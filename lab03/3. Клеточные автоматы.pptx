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6" r:id="rId8"/>
    <p:sldId id="277" r:id="rId9"/>
    <p:sldId id="278" r:id="rId10"/>
    <p:sldId id="279" r:id="rId11"/>
    <p:sldId id="282" r:id="rId12"/>
    <p:sldId id="283" r:id="rId13"/>
    <p:sldId id="284" r:id="rId14"/>
    <p:sldId id="28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hurin.net/online-tools/life-game.html" TargetMode="External"/><Relationship Id="rId2" Type="http://schemas.openxmlformats.org/officeDocument/2006/relationships/hyperlink" Target="https://en.wikipedia.org/wiki/Conway%27s_Game_of_Lif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churin.github.io/conways-game-of-lif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Клеточные автоматы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Клеточный автомат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FB614B-5DB1-4C59-B445-02A71043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060441"/>
          </a:xfrm>
        </p:spPr>
        <p:txBody>
          <a:bodyPr>
            <a:normAutofit/>
          </a:bodyPr>
          <a:lstStyle/>
          <a:p>
            <a:r>
              <a:rPr lang="ru-RU" sz="2400" dirty="0"/>
              <a:t>Клеточный автомат – дискретная модель, описывающая изменения состояний клеток (</a:t>
            </a:r>
            <a:r>
              <a:rPr lang="ru-RU" sz="2400" dirty="0" err="1"/>
              <a:t>cells</a:t>
            </a:r>
            <a:r>
              <a:rPr lang="ru-RU" sz="2400" dirty="0"/>
              <a:t>) некоторой решётки (</a:t>
            </a:r>
            <a:r>
              <a:rPr lang="ru-RU" sz="2400" dirty="0" err="1"/>
              <a:t>grid</a:t>
            </a:r>
            <a:r>
              <a:rPr lang="ru-RU" sz="2400" dirty="0"/>
              <a:t>) во времени</a:t>
            </a:r>
            <a:r>
              <a:rPr lang="en-US" sz="2400" dirty="0"/>
              <a:t>.</a:t>
            </a:r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DCA9F0-6A1B-41FC-9B3D-48C346E027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347" r="31177" b="9310"/>
          <a:stretch/>
        </p:blipFill>
        <p:spPr>
          <a:xfrm>
            <a:off x="6934107" y="2716156"/>
            <a:ext cx="3629025" cy="312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8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Элементарный клеточный автомат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FB614B-5DB1-4C59-B445-02A71043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357" y="1845734"/>
            <a:ext cx="6456001" cy="4439656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Элементарный клеточный автомат – </a:t>
            </a:r>
            <a:br>
              <a:rPr lang="ru-RU" sz="2400" dirty="0"/>
            </a:br>
            <a:r>
              <a:rPr lang="ru-RU" sz="2400" dirty="0"/>
              <a:t>это неограниченный в обе стороны одномерный массив клеток, в котором ячейка может иметь только два состояния (0 и 1)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ru-RU" sz="2400" dirty="0"/>
              <a:t>Новые значения состояний клеток вычисляются пошагово во времени отдельно для каждой клетки только на основе значений на предыдущем шаге времени</a:t>
            </a:r>
            <a:r>
              <a:rPr lang="en-US" sz="2400" dirty="0"/>
              <a:t>.</a:t>
            </a:r>
          </a:p>
          <a:p>
            <a:r>
              <a:rPr lang="en-US" sz="2400" dirty="0"/>
              <a:t> </a:t>
            </a:r>
            <a:br>
              <a:rPr lang="en-US" sz="2400" dirty="0"/>
            </a:br>
            <a:r>
              <a:rPr lang="ru-RU" sz="2400" dirty="0"/>
              <a:t>Правило эволюции определено детерминированным образом на основе значений самой клетки и двух ее ближайших «соседок».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6D1221-0596-4D0F-A04B-C0BBFC614D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07" r="30816" b="49904"/>
          <a:stretch/>
        </p:blipFill>
        <p:spPr>
          <a:xfrm>
            <a:off x="7228358" y="3210650"/>
            <a:ext cx="4660624" cy="4367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43457A-E981-4C68-99D0-5E44D5F95D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387" r="32132" b="29508"/>
          <a:stretch/>
        </p:blipFill>
        <p:spPr>
          <a:xfrm>
            <a:off x="7437034" y="4557893"/>
            <a:ext cx="4295775" cy="614221"/>
          </a:xfrm>
          <a:prstGeom prst="rect">
            <a:avLst/>
          </a:prstGeom>
        </p:spPr>
      </p:pic>
      <p:sp>
        <p:nvSpPr>
          <p:cNvPr id="7" name="Стрелка: вниз 6">
            <a:extLst>
              <a:ext uri="{FF2B5EF4-FFF2-40B4-BE49-F238E27FC236}">
                <a16:creationId xmlns:a16="http://schemas.microsoft.com/office/drawing/2014/main" id="{2C7DB448-2302-4AF0-AA98-D8D0B8BF19F8}"/>
              </a:ext>
            </a:extLst>
          </p:cNvPr>
          <p:cNvSpPr/>
          <p:nvPr/>
        </p:nvSpPr>
        <p:spPr>
          <a:xfrm>
            <a:off x="9472853" y="3816451"/>
            <a:ext cx="162378" cy="6125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74E1061-FA48-49AF-9B26-E693E1208BE8}"/>
              </a:ext>
            </a:extLst>
          </p:cNvPr>
          <p:cNvSpPr/>
          <p:nvPr/>
        </p:nvSpPr>
        <p:spPr>
          <a:xfrm>
            <a:off x="9951868" y="3071674"/>
            <a:ext cx="1384916" cy="614221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9F4D94D-9371-482B-B99A-FDC17FA0ACF3}"/>
              </a:ext>
            </a:extLst>
          </p:cNvPr>
          <p:cNvSpPr/>
          <p:nvPr/>
        </p:nvSpPr>
        <p:spPr>
          <a:xfrm>
            <a:off x="10386874" y="4522431"/>
            <a:ext cx="523782" cy="48983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авая фигурная скобка 9">
            <a:extLst>
              <a:ext uri="{FF2B5EF4-FFF2-40B4-BE49-F238E27FC236}">
                <a16:creationId xmlns:a16="http://schemas.microsoft.com/office/drawing/2014/main" id="{EA7D2310-CD3D-45F0-A816-029FE9820503}"/>
              </a:ext>
            </a:extLst>
          </p:cNvPr>
          <p:cNvSpPr/>
          <p:nvPr/>
        </p:nvSpPr>
        <p:spPr>
          <a:xfrm rot="5400000">
            <a:off x="10550409" y="3221893"/>
            <a:ext cx="178956" cy="13849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низ 10">
            <a:extLst>
              <a:ext uri="{FF2B5EF4-FFF2-40B4-BE49-F238E27FC236}">
                <a16:creationId xmlns:a16="http://schemas.microsoft.com/office/drawing/2014/main" id="{14FB4717-E9F3-4932-BBDC-B02E1C4B266C}"/>
              </a:ext>
            </a:extLst>
          </p:cNvPr>
          <p:cNvSpPr/>
          <p:nvPr/>
        </p:nvSpPr>
        <p:spPr>
          <a:xfrm>
            <a:off x="10597359" y="4090729"/>
            <a:ext cx="88776" cy="318649"/>
          </a:xfrm>
          <a:prstGeom prst="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D48FFB16-A021-47C0-AF1D-5150B60760D8}"/>
              </a:ext>
            </a:extLst>
          </p:cNvPr>
          <p:cNvSpPr/>
          <p:nvPr/>
        </p:nvSpPr>
        <p:spPr>
          <a:xfrm>
            <a:off x="10369118" y="3163227"/>
            <a:ext cx="523782" cy="475245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33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Элементарный клеточный автомат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FB614B-5DB1-4C59-B445-02A71043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45" y="3098308"/>
            <a:ext cx="6418555" cy="464605"/>
          </a:xfrm>
        </p:spPr>
        <p:txBody>
          <a:bodyPr>
            <a:normAutofit/>
          </a:bodyPr>
          <a:lstStyle/>
          <a:p>
            <a:r>
              <a:rPr lang="ru-RU" sz="2400" dirty="0"/>
              <a:t>Число всех возможных комбинаций</a:t>
            </a:r>
            <a:r>
              <a:rPr lang="en-US" sz="2400" dirty="0"/>
              <a:t>: </a:t>
            </a:r>
            <a:r>
              <a:rPr lang="ru-RU" sz="2400" dirty="0"/>
              <a:t>2</a:t>
            </a:r>
            <a:r>
              <a:rPr lang="ru-RU" sz="2400" baseline="30000" dirty="0"/>
              <a:t>3</a:t>
            </a:r>
            <a:r>
              <a:rPr lang="ru-RU" sz="2400" dirty="0"/>
              <a:t> = 8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340722-6C14-4221-AE3F-C230888C16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07" r="30816" b="49904"/>
          <a:stretch/>
        </p:blipFill>
        <p:spPr>
          <a:xfrm>
            <a:off x="1662059" y="2047675"/>
            <a:ext cx="4660624" cy="436700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57BF227-951C-4419-8E50-FF5B2EE806B5}"/>
              </a:ext>
            </a:extLst>
          </p:cNvPr>
          <p:cNvSpPr/>
          <p:nvPr/>
        </p:nvSpPr>
        <p:spPr>
          <a:xfrm>
            <a:off x="4385569" y="1908699"/>
            <a:ext cx="1384916" cy="614221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9CCBECB-5FDC-4E77-948F-70E32267A651}"/>
              </a:ext>
            </a:extLst>
          </p:cNvPr>
          <p:cNvSpPr/>
          <p:nvPr/>
        </p:nvSpPr>
        <p:spPr>
          <a:xfrm>
            <a:off x="4802819" y="2000252"/>
            <a:ext cx="523782" cy="475245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F78B2-09A0-44CD-A925-E85D659ED783}"/>
              </a:ext>
            </a:extLst>
          </p:cNvPr>
          <p:cNvSpPr txBox="1"/>
          <p:nvPr/>
        </p:nvSpPr>
        <p:spPr>
          <a:xfrm>
            <a:off x="4466343" y="2515705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X    Y    Z</a:t>
            </a:r>
            <a:endParaRPr lang="ru-RU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DD67B9-FA36-4AA0-AC32-AA6CD3BDD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197" y="2974824"/>
            <a:ext cx="4394575" cy="5648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0AF244-0967-4000-BD7C-F61E29117A06}"/>
              </a:ext>
            </a:extLst>
          </p:cNvPr>
          <p:cNvSpPr txBox="1"/>
          <p:nvPr/>
        </p:nvSpPr>
        <p:spPr>
          <a:xfrm>
            <a:off x="896645" y="3756641"/>
            <a:ext cx="2881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Правило эволюции </a:t>
            </a:r>
            <a:r>
              <a:rPr lang="en-US" sz="2400" dirty="0"/>
              <a:t>:</a:t>
            </a:r>
            <a:endParaRPr lang="ru-RU" sz="2400" dirty="0"/>
          </a:p>
        </p:txBody>
      </p:sp>
      <p:pic>
        <p:nvPicPr>
          <p:cNvPr id="13" name="Рисунок 12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7B0B935B-9225-450A-9208-82BBD5A84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22503"/>
            <a:ext cx="6493256" cy="958650"/>
          </a:xfrm>
          <a:prstGeom prst="rect">
            <a:avLst/>
          </a:prstGeom>
        </p:spPr>
      </p:pic>
      <p:sp>
        <p:nvSpPr>
          <p:cNvPr id="14" name="Объект 2">
            <a:extLst>
              <a:ext uri="{FF2B5EF4-FFF2-40B4-BE49-F238E27FC236}">
                <a16:creationId xmlns:a16="http://schemas.microsoft.com/office/drawing/2014/main" id="{1C187B9B-2A84-4C40-A581-F3EF7F518098}"/>
              </a:ext>
            </a:extLst>
          </p:cNvPr>
          <p:cNvSpPr txBox="1">
            <a:spLocks/>
          </p:cNvSpPr>
          <p:nvPr/>
        </p:nvSpPr>
        <p:spPr>
          <a:xfrm>
            <a:off x="896645" y="5371941"/>
            <a:ext cx="6661803" cy="4646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Общее число правил</a:t>
            </a:r>
            <a:r>
              <a:rPr lang="en-US" sz="2400" dirty="0"/>
              <a:t>: </a:t>
            </a:r>
            <a:r>
              <a:rPr lang="ru-RU" sz="2400" dirty="0"/>
              <a:t>2</a:t>
            </a:r>
            <a:r>
              <a:rPr lang="ru-RU" sz="2400" baseline="30000" dirty="0"/>
              <a:t>8</a:t>
            </a:r>
            <a:r>
              <a:rPr lang="ru-RU" sz="2400" dirty="0"/>
              <a:t> = 256</a:t>
            </a:r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FD78F3E9-57EA-41ED-A8C4-D5F6E523BCFE}"/>
              </a:ext>
            </a:extLst>
          </p:cNvPr>
          <p:cNvSpPr/>
          <p:nvPr/>
        </p:nvSpPr>
        <p:spPr>
          <a:xfrm flipH="1">
            <a:off x="7679184" y="4777108"/>
            <a:ext cx="639193" cy="2519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1CE86F-1654-4C3F-827D-8205BF7FB203}"/>
              </a:ext>
            </a:extLst>
          </p:cNvPr>
          <p:cNvSpPr txBox="1"/>
          <p:nvPr/>
        </p:nvSpPr>
        <p:spPr>
          <a:xfrm>
            <a:off x="8321839" y="4654475"/>
            <a:ext cx="185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Правило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110</a:t>
            </a:r>
            <a:endParaRPr lang="ru-RU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A50E4-0DA5-425C-9E05-CB5D3DCF2C74}"/>
              </a:ext>
            </a:extLst>
          </p:cNvPr>
          <p:cNvSpPr txBox="1"/>
          <p:nvPr/>
        </p:nvSpPr>
        <p:spPr>
          <a:xfrm>
            <a:off x="8179319" y="5097319"/>
            <a:ext cx="204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01101110</a:t>
            </a:r>
            <a:r>
              <a:rPr lang="ru-RU" sz="18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18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= 110</a:t>
            </a:r>
            <a:r>
              <a:rPr lang="ru-RU" sz="1800" baseline="-250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Правая фигурная скобка 17">
            <a:extLst>
              <a:ext uri="{FF2B5EF4-FFF2-40B4-BE49-F238E27FC236}">
                <a16:creationId xmlns:a16="http://schemas.microsoft.com/office/drawing/2014/main" id="{7B98E296-C340-4478-B3D0-BCA663B9D6CB}"/>
              </a:ext>
            </a:extLst>
          </p:cNvPr>
          <p:cNvSpPr/>
          <p:nvPr/>
        </p:nvSpPr>
        <p:spPr>
          <a:xfrm>
            <a:off x="10145386" y="4718418"/>
            <a:ext cx="157064" cy="7718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7F797E-FB4D-4E34-946F-F7FD4A0F22C9}"/>
              </a:ext>
            </a:extLst>
          </p:cNvPr>
          <p:cNvSpPr txBox="1"/>
          <p:nvPr/>
        </p:nvSpPr>
        <p:spPr>
          <a:xfrm>
            <a:off x="10223918" y="4885307"/>
            <a:ext cx="1863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</a:rPr>
              <a:t>код Вольфрама</a:t>
            </a:r>
          </a:p>
        </p:txBody>
      </p:sp>
    </p:spTree>
    <p:extLst>
      <p:ext uri="{BB962C8B-B14F-4D97-AF65-F5344CB8AC3E}">
        <p14:creationId xmlns:p14="http://schemas.microsoft.com/office/powerpoint/2010/main" val="151090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 animBg="1"/>
      <p:bldP spid="16" grpId="0"/>
      <p:bldP spid="17" grpId="0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727776" cy="1450757"/>
          </a:xfrm>
        </p:spPr>
        <p:txBody>
          <a:bodyPr/>
          <a:lstStyle/>
          <a:p>
            <a:r>
              <a:rPr lang="ru-RU" dirty="0"/>
              <a:t>Элементарный клеточный автомат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FB614B-5DB1-4C59-B445-02A710438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779" y="1876819"/>
            <a:ext cx="3033162" cy="418071"/>
          </a:xfrm>
        </p:spPr>
        <p:txBody>
          <a:bodyPr>
            <a:noAutofit/>
          </a:bodyPr>
          <a:lstStyle/>
          <a:p>
            <a:r>
              <a:rPr lang="ru-RU" sz="2400" dirty="0"/>
              <a:t>Начальное состояние</a:t>
            </a:r>
            <a:r>
              <a:rPr lang="en-US" sz="2400" dirty="0"/>
              <a:t>:</a:t>
            </a:r>
            <a:br>
              <a:rPr lang="en-US" sz="2400" dirty="0"/>
            </a:b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EA20880-CC10-4E56-85DD-55317BAA1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986" y="1845735"/>
            <a:ext cx="5905500" cy="257175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EE9704-3474-48F1-96D9-A17B28721621}"/>
              </a:ext>
            </a:extLst>
          </p:cNvPr>
          <p:cNvSpPr/>
          <p:nvPr/>
        </p:nvSpPr>
        <p:spPr>
          <a:xfrm>
            <a:off x="4616388" y="2294890"/>
            <a:ext cx="6048098" cy="2140351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5ECA7F-E238-4B43-A7F4-3CE07C6A2C0D}"/>
              </a:ext>
            </a:extLst>
          </p:cNvPr>
          <p:cNvSpPr/>
          <p:nvPr/>
        </p:nvSpPr>
        <p:spPr>
          <a:xfrm>
            <a:off x="4687687" y="2656265"/>
            <a:ext cx="6048098" cy="2140351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FCAF37E-0851-400E-82BF-368256FB1A86}"/>
              </a:ext>
            </a:extLst>
          </p:cNvPr>
          <p:cNvSpPr/>
          <p:nvPr/>
        </p:nvSpPr>
        <p:spPr>
          <a:xfrm>
            <a:off x="4616388" y="3017640"/>
            <a:ext cx="6048098" cy="2140351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9E3C5AE-EF7C-416B-9376-D1DFC163CEC5}"/>
              </a:ext>
            </a:extLst>
          </p:cNvPr>
          <p:cNvSpPr/>
          <p:nvPr/>
        </p:nvSpPr>
        <p:spPr>
          <a:xfrm>
            <a:off x="4687687" y="3361259"/>
            <a:ext cx="6048098" cy="2140351"/>
          </a:xfrm>
          <a:prstGeom prst="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DDE6322D-39F7-4C5C-B371-008FC0064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512" y="2716432"/>
            <a:ext cx="4826453" cy="7125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F75881-C8CF-45DF-9E66-1ADF5FF548C3}"/>
              </a:ext>
            </a:extLst>
          </p:cNvPr>
          <p:cNvSpPr txBox="1"/>
          <p:nvPr/>
        </p:nvSpPr>
        <p:spPr>
          <a:xfrm>
            <a:off x="0" y="2294890"/>
            <a:ext cx="185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Правило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110</a:t>
            </a:r>
            <a:endParaRPr lang="ru-RU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64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727776" cy="1450757"/>
          </a:xfrm>
        </p:spPr>
        <p:txBody>
          <a:bodyPr/>
          <a:lstStyle/>
          <a:p>
            <a:r>
              <a:rPr lang="ru-RU" dirty="0"/>
              <a:t>Элементарные клеточные автоматы</a:t>
            </a:r>
            <a:r>
              <a:rPr lang="en-US" dirty="0"/>
              <a:t>: </a:t>
            </a:r>
            <a:r>
              <a:rPr lang="ru-RU" dirty="0"/>
              <a:t>примеры моделирования</a:t>
            </a:r>
          </a:p>
        </p:txBody>
      </p:sp>
      <p:pic>
        <p:nvPicPr>
          <p:cNvPr id="1028" name="Picture 4" descr="Одномерный клеточный автомат в JavaScript">
            <a:extLst>
              <a:ext uri="{FF2B5EF4-FFF2-40B4-BE49-F238E27FC236}">
                <a16:creationId xmlns:a16="http://schemas.microsoft.com/office/drawing/2014/main" id="{8B01488A-EF97-429C-B281-928597BCA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8" y="1809840"/>
            <a:ext cx="2919877" cy="14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Клеточный автомат на Python. Из простого создаём сложное. | by Михаил  Хмельницкий | Medium">
            <a:extLst>
              <a:ext uri="{FF2B5EF4-FFF2-40B4-BE49-F238E27FC236}">
                <a16:creationId xmlns:a16="http://schemas.microsoft.com/office/drawing/2014/main" id="{BB89195B-9278-4BF7-8D14-6218ECFB6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387" y="1809840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Клеточные автоматы. Реализация и эксперименты">
            <a:extLst>
              <a:ext uri="{FF2B5EF4-FFF2-40B4-BE49-F238E27FC236}">
                <a16:creationId xmlns:a16="http://schemas.microsoft.com/office/drawing/2014/main" id="{E90C6DDA-B125-4457-9955-C25398BF7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719" y="1809840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Лекция 2. Клеточные автоматы">
            <a:extLst>
              <a:ext uri="{FF2B5EF4-FFF2-40B4-BE49-F238E27FC236}">
                <a16:creationId xmlns:a16="http://schemas.microsoft.com/office/drawing/2014/main" id="{90498500-D166-4338-A986-61D3DA716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051" y="1809840"/>
            <a:ext cx="4292199" cy="434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60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46BCA-439D-4BCD-B519-309696419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Двумерный клеточный автомат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835D24-5427-4D65-AE4B-27142728D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781917"/>
            <a:ext cx="10674510" cy="683551"/>
          </a:xfrm>
        </p:spPr>
        <p:txBody>
          <a:bodyPr/>
          <a:lstStyle/>
          <a:p>
            <a:r>
              <a:rPr lang="ru-RU" dirty="0"/>
              <a:t>Состояние клеток определяется на основе состояния соседей в предыдущий момент времени</a:t>
            </a:r>
          </a:p>
        </p:txBody>
      </p:sp>
      <p:pic>
        <p:nvPicPr>
          <p:cNvPr id="2050" name="Picture 2" descr="Game of Life is a two-dimensional cellular automaton where each cell... |  Download Scientific Diagram">
            <a:extLst>
              <a:ext uri="{FF2B5EF4-FFF2-40B4-BE49-F238E27FC236}">
                <a16:creationId xmlns:a16="http://schemas.microsoft.com/office/drawing/2014/main" id="{E2BAA919-5D8B-4FD5-9491-0D16A5913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05" y="1930035"/>
            <a:ext cx="658177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87F1EE-FBD4-4F60-8DAA-2117F6DB47F4}"/>
              </a:ext>
            </a:extLst>
          </p:cNvPr>
          <p:cNvSpPr txBox="1"/>
          <p:nvPr/>
        </p:nvSpPr>
        <p:spPr>
          <a:xfrm>
            <a:off x="1097280" y="4465468"/>
            <a:ext cx="1938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Кто наши соседи</a:t>
            </a:r>
            <a:r>
              <a:rPr lang="en-US" dirty="0"/>
              <a:t>?</a:t>
            </a:r>
            <a:endParaRPr lang="ru-RU" dirty="0"/>
          </a:p>
        </p:txBody>
      </p:sp>
      <p:pic>
        <p:nvPicPr>
          <p:cNvPr id="6" name="Рисунок 5" descr="Изображение выглядит как седзи, кроссворд&#10;&#10;Автоматически созданное описание">
            <a:extLst>
              <a:ext uri="{FF2B5EF4-FFF2-40B4-BE49-F238E27FC236}">
                <a16:creationId xmlns:a16="http://schemas.microsoft.com/office/drawing/2014/main" id="{4AD4AF14-052C-4206-921F-8DCD74B44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290" y="4465468"/>
            <a:ext cx="1346118" cy="1346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F45664-F854-4846-B1B7-EF73992C7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977" y="4465468"/>
            <a:ext cx="1346118" cy="13461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46E59D-FA7D-42AD-8F9A-07CFB98DF669}"/>
              </a:ext>
            </a:extLst>
          </p:cNvPr>
          <p:cNvSpPr txBox="1"/>
          <p:nvPr/>
        </p:nvSpPr>
        <p:spPr>
          <a:xfrm>
            <a:off x="4293003" y="5921406"/>
            <a:ext cx="276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окрестность фон Неймана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5F9A0-CD6B-444A-B480-5882DBD2E9D2}"/>
              </a:ext>
            </a:extLst>
          </p:cNvPr>
          <p:cNvSpPr txBox="1"/>
          <p:nvPr/>
        </p:nvSpPr>
        <p:spPr>
          <a:xfrm>
            <a:off x="7337433" y="5921406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окрестность Мура</a:t>
            </a:r>
          </a:p>
        </p:txBody>
      </p:sp>
    </p:spTree>
    <p:extLst>
      <p:ext uri="{BB962C8B-B14F-4D97-AF65-F5344CB8AC3E}">
        <p14:creationId xmlns:p14="http://schemas.microsoft.com/office/powerpoint/2010/main" val="2745240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C99BC-42A1-4416-B57C-1EBC7125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Двумерный клеточный автомат</a:t>
            </a:r>
            <a:r>
              <a:rPr lang="en-US" dirty="0"/>
              <a:t>:</a:t>
            </a:r>
            <a:br>
              <a:rPr lang="en-US" dirty="0"/>
            </a:br>
            <a:r>
              <a:rPr lang="ru-RU" sz="4000" dirty="0"/>
              <a:t>комбинации и правила</a:t>
            </a:r>
            <a:endParaRPr lang="ru-RU" dirty="0"/>
          </a:p>
        </p:txBody>
      </p:sp>
      <p:pic>
        <p:nvPicPr>
          <p:cNvPr id="4" name="Рисунок 3" descr="Изображение выглядит как седзи, кроссворд&#10;&#10;Автоматически созданное описание">
            <a:extLst>
              <a:ext uri="{FF2B5EF4-FFF2-40B4-BE49-F238E27FC236}">
                <a16:creationId xmlns:a16="http://schemas.microsoft.com/office/drawing/2014/main" id="{073E2DEB-7051-4372-9704-09EEFE22D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608" y="2192784"/>
            <a:ext cx="1346118" cy="1346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4CC3CF-FE11-435F-87C9-A124F7235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295" y="2192784"/>
            <a:ext cx="1346118" cy="134611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B5F8D-918E-434C-B544-AD445E7C70D0}"/>
              </a:ext>
            </a:extLst>
          </p:cNvPr>
          <p:cNvSpPr txBox="1"/>
          <p:nvPr/>
        </p:nvSpPr>
        <p:spPr>
          <a:xfrm>
            <a:off x="3689321" y="3642749"/>
            <a:ext cx="276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окрестность фон Неймана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066FB-F95D-4956-A94B-106D3423E3C3}"/>
              </a:ext>
            </a:extLst>
          </p:cNvPr>
          <p:cNvSpPr txBox="1"/>
          <p:nvPr/>
        </p:nvSpPr>
        <p:spPr>
          <a:xfrm>
            <a:off x="6733751" y="3666477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окрестность Мура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3DE51BC-F274-4545-8AFF-3BFC10C9F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87" y="4252405"/>
            <a:ext cx="11473501" cy="464605"/>
          </a:xfrm>
        </p:spPr>
        <p:txBody>
          <a:bodyPr>
            <a:normAutofit/>
          </a:bodyPr>
          <a:lstStyle/>
          <a:p>
            <a:r>
              <a:rPr lang="ru-RU" sz="2400" dirty="0"/>
              <a:t>Число возможных комбинаций </a:t>
            </a:r>
            <a:r>
              <a:rPr lang="en-US" sz="2400" dirty="0"/>
              <a:t>: </a:t>
            </a: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400" baseline="300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 = 32</a:t>
            </a:r>
            <a:r>
              <a:rPr lang="en-US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		      </a:t>
            </a: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400" baseline="300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ru-RU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 = 512</a:t>
            </a:r>
            <a:endParaRPr lang="ru-RU" sz="2000" dirty="0">
              <a:cs typeface="Arial" panose="020B0604020202020204" pitchFamily="34" charset="0"/>
            </a:endParaRP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A2935E23-5E80-44F2-8456-631F4AB44FB8}"/>
              </a:ext>
            </a:extLst>
          </p:cNvPr>
          <p:cNvSpPr txBox="1">
            <a:spLocks/>
          </p:cNvSpPr>
          <p:nvPr/>
        </p:nvSpPr>
        <p:spPr>
          <a:xfrm>
            <a:off x="458087" y="4719058"/>
            <a:ext cx="11473501" cy="46460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Общее число правил </a:t>
            </a:r>
            <a:r>
              <a:rPr lang="en-US" sz="2400" dirty="0"/>
              <a:t>: 	  </a:t>
            </a:r>
            <a:r>
              <a:rPr lang="ru-RU" sz="2400" dirty="0">
                <a:solidFill>
                  <a:srgbClr val="C0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400" baseline="30000" dirty="0">
                <a:solidFill>
                  <a:srgbClr val="C0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32</a:t>
            </a:r>
            <a:r>
              <a:rPr lang="ru-RU" sz="2400" dirty="0">
                <a:solidFill>
                  <a:srgbClr val="C0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 ≈ </a:t>
            </a:r>
            <a:r>
              <a:rPr lang="en-US" sz="2400" dirty="0">
                <a:solidFill>
                  <a:srgbClr val="C0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4 billion</a:t>
            </a:r>
            <a:r>
              <a:rPr lang="en-US" sz="2400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ea typeface="Arial" panose="020B0604020202020204" pitchFamily="34" charset="0"/>
                <a:cs typeface="Arial" panose="020B0604020202020204" pitchFamily="34" charset="0"/>
              </a:rPr>
              <a:t>	 </a:t>
            </a:r>
            <a:r>
              <a:rPr lang="ru-RU" sz="2400" b="1" dirty="0">
                <a:solidFill>
                  <a:srgbClr val="FF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2400" b="1" baseline="30000" dirty="0">
                <a:solidFill>
                  <a:srgbClr val="FF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512</a:t>
            </a:r>
            <a:r>
              <a:rPr lang="ru-RU" sz="2400" b="1" dirty="0">
                <a:solidFill>
                  <a:srgbClr val="FF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 ≈1.34∙10</a:t>
            </a:r>
            <a:r>
              <a:rPr lang="ru-RU" sz="2400" b="1" baseline="30000" dirty="0">
                <a:solidFill>
                  <a:srgbClr val="FF0000"/>
                </a:solidFill>
                <a:effectLst/>
                <a:ea typeface="Arial" panose="020B0604020202020204" pitchFamily="34" charset="0"/>
                <a:cs typeface="Arial" panose="020B0604020202020204" pitchFamily="34" charset="0"/>
              </a:rPr>
              <a:t>154</a:t>
            </a:r>
            <a:endParaRPr lang="ru-RU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6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C99BC-42A1-4416-B57C-1EBC7125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«Жизнь» Джона Конуэя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A2935E23-5E80-44F2-8456-631F4AB44FB8}"/>
              </a:ext>
            </a:extLst>
          </p:cNvPr>
          <p:cNvSpPr txBox="1">
            <a:spLocks/>
          </p:cNvSpPr>
          <p:nvPr/>
        </p:nvSpPr>
        <p:spPr>
          <a:xfrm>
            <a:off x="532660" y="1802166"/>
            <a:ext cx="11443317" cy="454536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>
                <a:cs typeface="Arial" panose="020B0604020202020204" pitchFamily="34" charset="0"/>
              </a:rPr>
              <a:t>Каждая клетка взаимодействует с 8 соседями (окрестность Мура). На каждом шаге по времени </a:t>
            </a:r>
            <a:r>
              <a:rPr lang="en-US" sz="2200" dirty="0">
                <a:cs typeface="Arial" panose="020B0604020202020204" pitchFamily="34" charset="0"/>
              </a:rPr>
              <a:t> </a:t>
            </a:r>
            <a:r>
              <a:rPr lang="ru-RU" sz="2200" dirty="0">
                <a:cs typeface="Arial" panose="020B0604020202020204" pitchFamily="34" charset="0"/>
              </a:rPr>
              <a:t>происходят следующие преобразования</a:t>
            </a:r>
            <a:r>
              <a:rPr lang="en-US" sz="2200" dirty="0">
                <a:cs typeface="Arial" panose="020B0604020202020204" pitchFamily="34" charset="0"/>
              </a:rPr>
              <a:t>: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2200" dirty="0">
                <a:cs typeface="Arial" panose="020B0604020202020204" pitchFamily="34" charset="0"/>
              </a:rPr>
              <a:t>Живая клетка, имеющая менее двух живых соседей, умирает (</a:t>
            </a:r>
            <a:r>
              <a:rPr lang="en-US" sz="2200" dirty="0">
                <a:cs typeface="Arial" panose="020B0604020202020204" pitchFamily="34" charset="0"/>
              </a:rPr>
              <a:t>underpopulation</a:t>
            </a:r>
            <a:r>
              <a:rPr lang="ru-RU" sz="2200" dirty="0">
                <a:cs typeface="Arial" panose="020B0604020202020204" pitchFamily="34" charset="0"/>
              </a:rPr>
              <a:t>)</a:t>
            </a:r>
            <a:r>
              <a:rPr lang="en-US" sz="2200" dirty="0">
                <a:cs typeface="Arial" panose="020B0604020202020204" pitchFamily="34" charset="0"/>
              </a:rPr>
              <a:t>.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2200" dirty="0">
                <a:cs typeface="Arial" panose="020B0604020202020204" pitchFamily="34" charset="0"/>
              </a:rPr>
              <a:t>Живая клетка, имеющая двух или трех живых соседей, остается живой</a:t>
            </a:r>
            <a:r>
              <a:rPr lang="en-US" sz="2200" dirty="0">
                <a:cs typeface="Arial" panose="020B0604020202020204" pitchFamily="34" charset="0"/>
              </a:rPr>
              <a:t>.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2200" dirty="0">
                <a:cs typeface="Arial" panose="020B0604020202020204" pitchFamily="34" charset="0"/>
              </a:rPr>
              <a:t>Живая клетка, имеющая более трех живых соседей, умирает (</a:t>
            </a:r>
            <a:r>
              <a:rPr lang="en-US" sz="2200" dirty="0">
                <a:cs typeface="Arial" panose="020B0604020202020204" pitchFamily="34" charset="0"/>
              </a:rPr>
              <a:t>overpopulation</a:t>
            </a:r>
            <a:r>
              <a:rPr lang="ru-RU" sz="2200" dirty="0">
                <a:cs typeface="Arial" panose="020B0604020202020204" pitchFamily="34" charset="0"/>
              </a:rPr>
              <a:t>)</a:t>
            </a:r>
            <a:r>
              <a:rPr lang="en-US" sz="2200" dirty="0">
                <a:cs typeface="Arial" panose="020B0604020202020204" pitchFamily="34" charset="0"/>
              </a:rPr>
              <a:t>.</a:t>
            </a:r>
          </a:p>
          <a:p>
            <a:pPr indent="180000">
              <a:buFont typeface="Arial" panose="020B0604020202020204" pitchFamily="34" charset="0"/>
              <a:buChar char="•"/>
            </a:pPr>
            <a:r>
              <a:rPr lang="ru-RU" sz="2200" dirty="0">
                <a:cs typeface="Arial" panose="020B0604020202020204" pitchFamily="34" charset="0"/>
              </a:rPr>
              <a:t>Мертвая клетка, имеющая ровно трех живых соседей, становится живой (</a:t>
            </a:r>
            <a:r>
              <a:rPr lang="en-US" sz="2200" dirty="0">
                <a:cs typeface="Arial" panose="020B0604020202020204" pitchFamily="34" charset="0"/>
              </a:rPr>
              <a:t>reproduction</a:t>
            </a:r>
            <a:r>
              <a:rPr lang="ru-RU" sz="2200" dirty="0">
                <a:cs typeface="Arial" panose="020B0604020202020204" pitchFamily="34" charset="0"/>
              </a:rPr>
              <a:t>)</a:t>
            </a:r>
            <a:r>
              <a:rPr lang="en-US" sz="2200" dirty="0">
                <a:cs typeface="Arial" panose="020B0604020202020204" pitchFamily="34" charset="0"/>
              </a:rPr>
              <a:t>.</a:t>
            </a:r>
          </a:p>
          <a:p>
            <a:endParaRPr lang="en-US" sz="2200" dirty="0">
              <a:cs typeface="Arial" panose="020B0604020202020204" pitchFamily="34" charset="0"/>
            </a:endParaRPr>
          </a:p>
          <a:p>
            <a:r>
              <a:rPr lang="ru-RU" sz="2200" dirty="0">
                <a:cs typeface="Arial" panose="020B0604020202020204" pitchFamily="34" charset="0"/>
              </a:rPr>
              <a:t>Распределение живых клеток в начале игры называется первым поколением</a:t>
            </a:r>
            <a:r>
              <a:rPr lang="en-US" sz="2200" dirty="0">
                <a:cs typeface="Arial" panose="020B0604020202020204" pitchFamily="34" charset="0"/>
              </a:rPr>
              <a:t> (generation 0). </a:t>
            </a:r>
            <a:r>
              <a:rPr lang="ru-RU" sz="2200" dirty="0">
                <a:cs typeface="Arial" panose="020B0604020202020204" pitchFamily="34" charset="0"/>
              </a:rPr>
              <a:t>Каждое следующее поколение получается путем одновременного применения правил ко всем клеткам предыдущего поколения</a:t>
            </a:r>
            <a:r>
              <a:rPr lang="en-US" sz="2200" dirty="0">
                <a:cs typeface="Arial" panose="020B0604020202020204" pitchFamily="34" charset="0"/>
              </a:rPr>
              <a:t>. </a:t>
            </a:r>
            <a:endParaRPr lang="ru-RU" sz="2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41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C99BC-42A1-4416-B57C-1EBC7125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Игра «Жизнь»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29251-413A-48B3-9876-B553A163BF72}"/>
              </a:ext>
            </a:extLst>
          </p:cNvPr>
          <p:cNvSpPr txBox="1"/>
          <p:nvPr/>
        </p:nvSpPr>
        <p:spPr>
          <a:xfrm>
            <a:off x="978763" y="2048067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https://en.wikipedia.org/wiki/Conway%27s_Game_of_Life</a:t>
            </a:r>
            <a:endParaRPr lang="en-US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FA920-B8FA-4D1D-81F2-71FAE1427240}"/>
              </a:ext>
            </a:extLst>
          </p:cNvPr>
          <p:cNvSpPr txBox="1"/>
          <p:nvPr/>
        </p:nvSpPr>
        <p:spPr>
          <a:xfrm>
            <a:off x="978763" y="2892783"/>
            <a:ext cx="5220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  <a:hlinkClick r:id="rId3"/>
              </a:rPr>
              <a:t>http://www.michurin.net/online-tools/life-game.html</a:t>
            </a:r>
            <a:endParaRPr lang="en-US" sz="1800" dirty="0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570818-ECAB-4EF0-B17F-E6EACD92E4B9}"/>
              </a:ext>
            </a:extLst>
          </p:cNvPr>
          <p:cNvSpPr txBox="1"/>
          <p:nvPr/>
        </p:nvSpPr>
        <p:spPr>
          <a:xfrm>
            <a:off x="978763" y="3737499"/>
            <a:ext cx="4727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effectLst/>
                <a:ea typeface="Arial" panose="020B0604020202020204" pitchFamily="34" charset="0"/>
                <a:cs typeface="Arial" panose="020B0604020202020204" pitchFamily="34" charset="0"/>
                <a:hlinkClick r:id="rId4"/>
              </a:rPr>
              <a:t>https://michurin.github.io/conways-game-of-life</a:t>
            </a:r>
            <a:endParaRPr lang="en-US" sz="1800" dirty="0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902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4D406-6890-4B5A-9C08-11DA9A81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варианты клеточных автоматов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DF891-0117-4E2B-8D78-65F45B33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варианты окрестности (соседей): больший размер, форма (даже неправильная) и т.д.</a:t>
            </a:r>
            <a:endParaRPr lang="en-US" sz="2400" dirty="0"/>
          </a:p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число состояний клетки </a:t>
            </a:r>
            <a:r>
              <a:rPr lang="en-US" sz="2400" dirty="0"/>
              <a:t>&gt;2</a:t>
            </a:r>
            <a:r>
              <a:rPr lang="ru-RU" sz="2400" dirty="0"/>
              <a:t> (пример: игра «Хищник-жертва»</a:t>
            </a:r>
            <a:r>
              <a:rPr lang="en-US" sz="2400" dirty="0"/>
              <a:t>)</a:t>
            </a:r>
            <a:r>
              <a:rPr lang="ru-RU" sz="2400" dirty="0"/>
              <a:t>, непрерывное множество состояний</a:t>
            </a:r>
            <a:endParaRPr lang="en-US" sz="2400" dirty="0"/>
          </a:p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трехмерные автоматы</a:t>
            </a:r>
            <a:r>
              <a:rPr lang="en-US" sz="2400" dirty="0"/>
              <a:t> (</a:t>
            </a:r>
            <a:r>
              <a:rPr lang="ru-RU" sz="2400" dirty="0"/>
              <a:t>и большей размерности</a:t>
            </a:r>
            <a:r>
              <a:rPr lang="en-US" sz="2400" dirty="0"/>
              <a:t>)</a:t>
            </a:r>
          </a:p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неквадратные формы ячеек (шестиугольники и др.), наличие ячеек разной формы одновременно </a:t>
            </a:r>
            <a:endParaRPr lang="en-US" sz="2400" dirty="0"/>
          </a:p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/>
              <a:t>стохастические элементы в правилах</a:t>
            </a:r>
            <a:endParaRPr lang="en-US" sz="2400" dirty="0"/>
          </a:p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1800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9953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76EEE-9B6C-01AA-A791-232EC4D32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0"/>
            <a:ext cx="9783097" cy="688259"/>
          </a:xfrm>
        </p:spPr>
        <p:txBody>
          <a:bodyPr>
            <a:normAutofit fontScale="90000"/>
          </a:bodyPr>
          <a:lstStyle/>
          <a:p>
            <a:r>
              <a:rPr lang="ru-RU" dirty="0"/>
              <a:t>Лесные пожары</a:t>
            </a:r>
          </a:p>
        </p:txBody>
      </p:sp>
      <p:pic>
        <p:nvPicPr>
          <p:cNvPr id="6" name="Рисунок 5" descr="Изображение выглядит как текст, снимок экрана, диаграмма, фрук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097DC6-E453-F600-72A1-8CB8AE5CD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840" y="934064"/>
            <a:ext cx="6698756" cy="52855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BEC54A-3531-8216-4AB0-D4C087320069}"/>
              </a:ext>
            </a:extLst>
          </p:cNvPr>
          <p:cNvSpPr txBox="1"/>
          <p:nvPr/>
        </p:nvSpPr>
        <p:spPr>
          <a:xfrm>
            <a:off x="1455174" y="1111044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Основное правило</a:t>
            </a:r>
          </a:p>
        </p:txBody>
      </p:sp>
    </p:spTree>
    <p:extLst>
      <p:ext uri="{BB962C8B-B14F-4D97-AF65-F5344CB8AC3E}">
        <p14:creationId xmlns:p14="http://schemas.microsoft.com/office/powerpoint/2010/main" val="1812109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D4EC-0ABD-FEDD-80CA-651A728C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3EF85-39A6-B2D2-0E32-706D789D6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0"/>
            <a:ext cx="9783097" cy="688259"/>
          </a:xfrm>
        </p:spPr>
        <p:txBody>
          <a:bodyPr>
            <a:normAutofit fontScale="90000"/>
          </a:bodyPr>
          <a:lstStyle/>
          <a:p>
            <a:r>
              <a:rPr lang="ru-RU" dirty="0"/>
              <a:t>Лесные пожары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0FAA5-BBF9-8E5C-20AA-DC67CE95B9C4}"/>
              </a:ext>
            </a:extLst>
          </p:cNvPr>
          <p:cNvSpPr txBox="1"/>
          <p:nvPr/>
        </p:nvSpPr>
        <p:spPr>
          <a:xfrm>
            <a:off x="1327355" y="1130709"/>
            <a:ext cx="3028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Дополнительные правила</a:t>
            </a:r>
          </a:p>
        </p:txBody>
      </p:sp>
      <p:pic>
        <p:nvPicPr>
          <p:cNvPr id="4" name="Рисунок 3" descr="Изображение выглядит как текст, снимок экрана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BDA1FA-A501-ECBC-C9C5-03210233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739" y="776287"/>
            <a:ext cx="687705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84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86000"/>
            <a:ext cx="7171649" cy="3390900"/>
          </a:xfrm>
        </p:spPr>
        <p:txBody>
          <a:bodyPr>
            <a:normAutofit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sz="2400" dirty="0"/>
              <a:t>Реализовать моделирование возникновения и распространения лесных пожаров с использованием двумерного клеточного автомата.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sz="2400" dirty="0"/>
              <a:t>Реализовать не менее 3 дополнительных правил</a:t>
            </a:r>
          </a:p>
          <a:p>
            <a:pPr indent="0">
              <a:buNone/>
            </a:pPr>
            <a:endParaRPr lang="ru-RU" sz="2400" dirty="0"/>
          </a:p>
        </p:txBody>
      </p:sp>
      <p:pic>
        <p:nvPicPr>
          <p:cNvPr id="5" name="Рисунок 4" descr="Изображение выглядит как Красочность, шаблон, искусств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C9F76A-1DA8-FE64-F93E-C25A2B728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662" y="2286000"/>
            <a:ext cx="34194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9131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247</TotalTime>
  <Words>457</Words>
  <Application>Microsoft Office PowerPoint</Application>
  <PresentationFormat>Широкоэкранный</PresentationFormat>
  <Paragraphs>58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Ретро</vt:lpstr>
      <vt:lpstr>Имитационное моделирование</vt:lpstr>
      <vt:lpstr>Клеточный автомат</vt:lpstr>
      <vt:lpstr>Элементарный клеточный автомат</vt:lpstr>
      <vt:lpstr>Элементарный клеточный автомат</vt:lpstr>
      <vt:lpstr>Элементарный клеточный автомат</vt:lpstr>
      <vt:lpstr>Элементарные клеточные автоматы: примеры моделирования</vt:lpstr>
      <vt:lpstr>Двумерный клеточный автомат</vt:lpstr>
      <vt:lpstr>Двумерный клеточный автомат: комбинации и правила</vt:lpstr>
      <vt:lpstr>Игра «Жизнь» Джона Конуэя</vt:lpstr>
      <vt:lpstr>Игра «Жизнь»</vt:lpstr>
      <vt:lpstr>Другие варианты клеточных автоматов</vt:lpstr>
      <vt:lpstr>Лесные пожары</vt:lpstr>
      <vt:lpstr>Лесные пожары</vt:lpstr>
      <vt:lpstr>Лабораторная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72</cp:revision>
  <dcterms:created xsi:type="dcterms:W3CDTF">2019-01-25T03:35:28Z</dcterms:created>
  <dcterms:modified xsi:type="dcterms:W3CDTF">2026-02-08T11:46:41Z</dcterms:modified>
</cp:coreProperties>
</file>